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005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BrightTV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02920" y="1783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93C5FD"/>
                </a:solidFill>
              </a:rPr>
              <a:t>Viewership Analytics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</a:rPr>
              <a:t>Customer Value Management — Growth Strategy Presentation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3017520"/>
            <a:ext cx="27432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Q1 2016  |  Jan – Mar  |  10,000 Sessions Analysed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CONFIDENTIAL  •  BrightTV CVM Team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Agenda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68580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685800"/>
            <a:ext cx="64008" cy="11430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7589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3E8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Executive Summary &amp; KPIs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205740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2057400"/>
            <a:ext cx="64008" cy="114300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305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A853"/>
                </a:solidFill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251460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User Profiles &amp; Demographics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42900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3429000"/>
            <a:ext cx="64008" cy="114300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021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BBC05"/>
                </a:solidFill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8640" y="388620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Viewership Trends &amp; Usage Patterns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92040" y="68580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92040" y="685800"/>
            <a:ext cx="64008" cy="114300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7589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4335"/>
                </a:solidFill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29200" y="114300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Factors Influencing Consumption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92040" y="205740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2057400"/>
            <a:ext cx="64008" cy="114300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1305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C27B0"/>
                </a:solidFill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29200" y="251460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Content Recommendations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92040" y="342900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92040" y="3429000"/>
            <a:ext cx="64008" cy="114300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50215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CD4"/>
                </a:solidFill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029200" y="388620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Growth Initiatives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Executive Summary – Key Performance Indicators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621792"/>
            <a:ext cx="269748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621792"/>
            <a:ext cx="64008" cy="187452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94944"/>
            <a:ext cx="2514600" cy="1030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73E8"/>
                </a:solidFill>
              </a:rPr>
              <a:t>9,738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652778"/>
            <a:ext cx="2514600" cy="787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Total Sessions (Q1 2016)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621792"/>
            <a:ext cx="269748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621792"/>
            <a:ext cx="64008" cy="187452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694944"/>
            <a:ext cx="2514600" cy="1030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A853"/>
                </a:solidFill>
              </a:rPr>
              <a:t>4,211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37560" y="1652778"/>
            <a:ext cx="2514600" cy="787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Unique Active Subscribers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621792"/>
            <a:ext cx="269748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621792"/>
            <a:ext cx="64008" cy="187452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694944"/>
            <a:ext cx="2514600" cy="1030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9C27B0"/>
                </a:solidFill>
              </a:rPr>
              <a:t>5,375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17920" y="1652778"/>
            <a:ext cx="2514600" cy="787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Total Registered Users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724912"/>
            <a:ext cx="269748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724912"/>
            <a:ext cx="64008" cy="18745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798064"/>
            <a:ext cx="2514600" cy="1030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A4335"/>
                </a:solidFill>
              </a:rPr>
              <a:t>1,487 h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57200" y="3755898"/>
            <a:ext cx="2514600" cy="787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Total Watch Time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724912"/>
            <a:ext cx="269748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724912"/>
            <a:ext cx="64008" cy="187452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2798064"/>
            <a:ext cx="2514600" cy="1030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BC05"/>
                </a:solidFill>
              </a:rPr>
              <a:t>9.2 min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337560" y="3755898"/>
            <a:ext cx="2514600" cy="787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Avg Session Duration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80760" y="2724912"/>
            <a:ext cx="269748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2724912"/>
            <a:ext cx="64008" cy="187452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2798064"/>
            <a:ext cx="2514600" cy="10309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CD4"/>
                </a:solidFill>
              </a:rPr>
              <a:t>21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217920" y="3755898"/>
            <a:ext cx="2514600" cy="787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Channels Available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User Profiles &amp; Demographics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548640"/>
            <a:ext cx="86868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Viewership Trends – Daily Sessions (SAST)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66928"/>
            <a:ext cx="859536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Shaded bars indicate weekends. ICC Cricket World Cup 2011 matches drove spikes in March 2016.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Viewership Trends – Sessions by Day of Week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566928"/>
            <a:ext cx="5303520" cy="4251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760720" y="658368"/>
            <a:ext cx="3108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658368"/>
            <a:ext cx="64008" cy="128016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7" name="Text 4"/>
          <p:cNvSpPr/>
          <p:nvPr/>
        </p:nvSpPr>
        <p:spPr>
          <a:xfrm>
            <a:off x="5897880" y="7498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Friday Peak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97880" y="106984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Friday generates the highest sessions (1,634), suggesting subscribers unwind after work/school.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60720" y="2093976"/>
            <a:ext cx="3108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2093976"/>
            <a:ext cx="64008" cy="128016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1" name="Text 8"/>
          <p:cNvSpPr/>
          <p:nvPr/>
        </p:nvSpPr>
        <p:spPr>
          <a:xfrm>
            <a:off x="5897880" y="218541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Monday Slump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897880" y="2505456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Monday is the lowest day (928 sessions) — nearly 43% fewer than Friday.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60720" y="3529584"/>
            <a:ext cx="310896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60720" y="3529584"/>
            <a:ext cx="64008" cy="128016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5" name="Text 12"/>
          <p:cNvSpPr/>
          <p:nvPr/>
        </p:nvSpPr>
        <p:spPr>
          <a:xfrm>
            <a:off x="5897880" y="362102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Weekend Steady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897880" y="3941064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Weekends show moderate but consistent activity — a key engagement window.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Viewing Intensity – Day × Hour Heatmap (SAST)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566928"/>
            <a:ext cx="8686800" cy="4251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Peak viewing: 17:00–21:00 SAST across all days. Weekend mornings (09:00–12:00) also show elevated activity.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Top Channels by Sessions &amp; Watch Time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566928"/>
            <a:ext cx="868680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Average Session Duration by Channel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566928"/>
            <a:ext cx="868680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Channels with longer avg sessions indicate deeper engagement — useful for premium packaging decisions.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Factors Influencing Consumption – Age Group &amp; Gender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566928"/>
            <a:ext cx="868680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Factors Influencing Consumption – Geography &amp; Channel Preference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566928"/>
            <a:ext cx="868680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Key Factors Influencing Consumption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621792"/>
            <a:ext cx="41605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21792"/>
            <a:ext cx="64008" cy="132588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69494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Time of Day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033272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Evening prime time (17:00–21:00 SAST) drives the majority of sessions. Lunch hour (12:00–13:00) shows a secondary spike.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621792"/>
            <a:ext cx="41605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621792"/>
            <a:ext cx="64008" cy="132588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69494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Content Type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033272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Sport (SuperSport Live Events, ICC Cricket) and music/entertainment (Channel O, Trace TV, Africa Magic) dominate watch time.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084832"/>
            <a:ext cx="41605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084832"/>
            <a:ext cx="64008" cy="132588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15798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Demographics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2496312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Males aged 25–44 account for the highest consumption. Female engagement is significantly under-represented.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084832"/>
            <a:ext cx="41605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084832"/>
            <a:ext cx="64008" cy="132588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15798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Day of Week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496312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Friday is the clear peak day; Monday is the trough. Targeted promotions on low days could lift volumes by ~40%.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547872"/>
            <a:ext cx="41605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47872"/>
            <a:ext cx="64008" cy="132588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62102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Geography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959352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Gauteng subscribers generate the highest activity. Rural provinces (Northern Cape, Free State) show untapped potential.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547872"/>
            <a:ext cx="41605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547872"/>
            <a:ext cx="64008" cy="132588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62102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Event Seasons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959352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ICC Cricket World Cup viewership spikes confirm that live events are powerful consumption drivers.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Content Recommendations for Low-Consumption Days (Mon–Wed)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621792"/>
            <a:ext cx="41605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21792"/>
            <a:ext cx="64008" cy="132588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69494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🏋 Fitness &amp; Wellness  —  Monday Motivation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60704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Workout series, yoga, health documentaries — align with the 'new week' mindset. Target 06:00–08:00 SAST morning slot.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621792"/>
            <a:ext cx="41605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621792"/>
            <a:ext cx="64008" cy="132588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69494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🎬 Binge-Ready Series  —  Series Drop Strategy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060704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Release new episodes of drama/sitcom series on Monday evenings to incentivise midweek logins.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084832"/>
            <a:ext cx="41605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084832"/>
            <a:ext cx="64008" cy="132588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15798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🎮 Gaming &amp; eSports  —  Youth Midweek Hook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523744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eSports tournaments and gaming content attract the under-25 male segment during slow afternoon hours.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084832"/>
            <a:ext cx="41605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084832"/>
            <a:ext cx="64008" cy="132588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15798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📚 Education &amp; Docu  —  Inform &amp; Engage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523744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Documentary marathons and current affairs draw the 35–54 age group on Tuesday/Wednesday evenings.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547872"/>
            <a:ext cx="41605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47872"/>
            <a:ext cx="64008" cy="132588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62102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🎵 Music Countdowns  —  Chart Shows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986784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Weekly Top-40 and Afrobeats countdowns on Channel O / Trace TV — low-production, high-appeal for under-30s.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547872"/>
            <a:ext cx="41605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547872"/>
            <a:ext cx="64008" cy="132588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62102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🌍 Local Content  —  SA Stories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986784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Local South African content (reality shows, local drama) drives cultural connection and loyalty mid-week.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Growth Initiatives – Expanding the Subscriber Base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621792"/>
            <a:ext cx="41605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621792"/>
            <a:ext cx="64008" cy="132588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69494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01  Female Subscriber Drive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60704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Only ~10% of subscribers are female. Launch targeted campaigns via social media (Instagram/TikTok) featuring lifestyle, reality, and local drama content. Partner with female influencers.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621792"/>
            <a:ext cx="41605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621792"/>
            <a:ext cx="64008" cy="1325880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69494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02  Provincial Expansion (Rural SA)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1060704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Northern Cape, Free State and North West are under-indexed. Deploy affordable mobile-data bundles in partnership with MTN/Vodacom. Offer reduced-rate subscriptions for townships.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084832"/>
            <a:ext cx="41605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084832"/>
            <a:ext cx="64008" cy="132588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15798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03  Youth Acquisition (Under-18)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2523744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The under-18 segment shows low engagement. Launch a 'BrightTV Kids &amp; Youth' tier with Cartoon Network, Boomerang and eSports. Offer student pricing and school holiday campaigns.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2084832"/>
            <a:ext cx="41605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084832"/>
            <a:ext cx="64008" cy="1325880"/>
          </a:xfrm>
          <a:prstGeom prst="rect">
            <a:avLst/>
          </a:prstGeom>
          <a:solidFill>
            <a:srgbClr val="FBBC05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215798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04  Loyalty &amp; Retention Programme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523744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Reward long-session viewers with points redeemable for subscription discounts. A 'Streak Reward' (7-day consecutive login) can increase MAU and reduce churn.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547872"/>
            <a:ext cx="41605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47872"/>
            <a:ext cx="64008" cy="132588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62102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05  Live Events &amp; Sports Packaging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986784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SuperSport &amp; Cricket dominate consumption. Create sports season passes and live-event bundles to convert casual viewers into paid subscribers during peak sports seasons.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3547872"/>
            <a:ext cx="416052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3547872"/>
            <a:ext cx="64008" cy="1325880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62102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06  Social Sharing &amp; Referral Engine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986784"/>
            <a:ext cx="3886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Leverage existing social media handles in the database. Build share-to-earn referral mechanics — reward subscribers for bringing in friends via their linked handles.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400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Key Takeaways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286000" cy="36576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591056"/>
            <a:ext cx="256032" cy="256032"/>
          </a:xfrm>
          <a:prstGeom prst="oval">
            <a:avLst/>
          </a:prstGeom>
          <a:solidFill>
            <a:srgbClr val="1A73E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910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54533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Friday evenings are peak — protect and enhance this window with premium content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121408"/>
            <a:ext cx="256032" cy="256032"/>
          </a:xfrm>
          <a:prstGeom prst="oval">
            <a:avLst/>
          </a:prstGeom>
          <a:solidFill>
            <a:srgbClr val="1A73E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121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07568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Sport &amp; Music are the two content pillars driving the most engagement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651760"/>
            <a:ext cx="256032" cy="256032"/>
          </a:xfrm>
          <a:prstGeom prst="oval">
            <a:avLst/>
          </a:prstGeom>
          <a:solidFill>
            <a:srgbClr val="1A73E8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651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6060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Female and rural subscribers are the largest untapped growth segments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182112"/>
            <a:ext cx="256032" cy="256032"/>
          </a:xfrm>
          <a:prstGeom prst="oval">
            <a:avLst/>
          </a:prstGeom>
          <a:solidFill>
            <a:srgbClr val="1A73E8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182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13639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Monday–Wednesday need dedicated content strategies to lift low-day sessions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712464"/>
            <a:ext cx="256032" cy="256032"/>
          </a:xfrm>
          <a:prstGeom prst="oval">
            <a:avLst/>
          </a:prstGeom>
          <a:solidFill>
            <a:srgbClr val="1A73E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712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3666744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Live events (cricket, football) are powerful subscriber acquisition tools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4242816"/>
            <a:ext cx="256032" cy="256032"/>
          </a:xfrm>
          <a:prstGeom prst="oval">
            <a:avLst/>
          </a:prstGeom>
          <a:solidFill>
            <a:srgbClr val="1A73E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242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4197096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A referral + loyalty programme can accelerate organic subscriber growth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24" name="Text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Thank you  •  BrightTV CVM Analytics  •  2016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BrightTV Viewership Analytics</dc:title>
  <dc:subject>PptxGenJS Presentation</dc:subject>
  <dc:creator>PptxGenJS</dc:creator>
  <cp:lastModifiedBy>PptxGenJS</cp:lastModifiedBy>
  <cp:revision>1</cp:revision>
  <dcterms:created xsi:type="dcterms:W3CDTF">2026-04-15T17:38:43Z</dcterms:created>
  <dcterms:modified xsi:type="dcterms:W3CDTF">2026-04-15T17:38:43Z</dcterms:modified>
</cp:coreProperties>
</file>